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/>
      <p:bold r:id="rId10"/>
    </p:embeddedFont>
    <p:embeddedFont>
      <p:font typeface="Playfair Display" panose="00000500000000000000" pitchFamily="2" charset="0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796730"/>
            <a:ext cx="609600" cy="1905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91062" y="2042219"/>
            <a:ext cx="28098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B45309"/>
                </a:solidFill>
                <a:latin typeface="Inter"/>
              </a:rPr>
              <a:t>DOCUMENTO DE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96" y="2461319"/>
            <a:ext cx="11251406" cy="140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sz="4800" b="1" i="0" u="none">
                <a:solidFill>
                  <a:srgbClr val="F8FAFC"/>
                </a:solidFill>
                <a:latin typeface="Playfair Display"/>
              </a:rPr>
              <a:t>Estructura y Mecánicas del Juego de Mesa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74156" y="4168080"/>
            <a:ext cx="66436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94A3B8"/>
                </a:solidFill>
                <a:latin typeface="Inter"/>
              </a:rPr>
              <a:t>Análisis de reglas, inventario y matemáticas aplicadas.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65970"/>
            <a:ext cx="304800" cy="27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51795"/>
            <a:ext cx="333375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37620"/>
            <a:ext cx="266700" cy="276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772542"/>
            <a:ext cx="72009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Playfair Display"/>
              </a:rPr>
              <a:t>El Tablero Espacial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732633"/>
            <a:ext cx="3533775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Recorrido concéntrico </a:t>
            </a:r>
            <a:r>
              <a:rPr sz="1500" b="1" i="0" u="none">
                <a:solidFill>
                  <a:srgbClr val="475569"/>
                </a:solidFill>
                <a:latin typeface="Inter"/>
              </a:rPr>
              <a:t>106 casillas perimetrales progresivas.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475" y="3618458"/>
            <a:ext cx="32766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0F172A"/>
                </a:solidFill>
                <a:latin typeface="Inter"/>
              </a:rPr>
              <a:t>Capacidad</a:t>
            </a:r>
            <a:r>
              <a:rPr sz="18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800" b="1" i="0" u="none" dirty="0" err="1">
                <a:solidFill>
                  <a:srgbClr val="0F172A"/>
                </a:solidFill>
                <a:latin typeface="Inter"/>
              </a:rPr>
              <a:t>máxima</a:t>
            </a:r>
            <a:r>
              <a:rPr sz="180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500" b="1" i="0" u="none" dirty="0">
                <a:solidFill>
                  <a:srgbClr val="475569"/>
                </a:solidFill>
                <a:latin typeface="Inter"/>
              </a:rPr>
              <a:t>4 </a:t>
            </a:r>
            <a:r>
              <a:rPr sz="1500" b="1" i="0" u="none" dirty="0" err="1">
                <a:solidFill>
                  <a:srgbClr val="475569"/>
                </a:solidFill>
                <a:latin typeface="Inter"/>
              </a:rPr>
              <a:t>fichas</a:t>
            </a:r>
            <a:r>
              <a:rPr sz="1500" b="1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500" b="1" i="0" u="none" dirty="0" err="1">
                <a:solidFill>
                  <a:srgbClr val="475569"/>
                </a:solidFill>
                <a:latin typeface="Inter"/>
              </a:rPr>
              <a:t>personaje</a:t>
            </a:r>
            <a:r>
              <a:rPr sz="1500" b="1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1" i="0" u="none" dirty="0" err="1">
                <a:solidFill>
                  <a:srgbClr val="475569"/>
                </a:solidFill>
                <a:latin typeface="Inter"/>
              </a:rPr>
              <a:t>simultáneas</a:t>
            </a:r>
            <a:r>
              <a:rPr sz="1500" b="1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4504283"/>
            <a:ext cx="2924175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Inter"/>
              </a:rPr>
              <a:t>Destino final </a:t>
            </a:r>
            <a:r>
              <a:rPr sz="1500" b="1" i="0" u="none" dirty="0">
                <a:solidFill>
                  <a:srgbClr val="475569"/>
                </a:solidFill>
                <a:latin typeface="Inter"/>
              </a:rPr>
              <a:t>Centro </a:t>
            </a:r>
            <a:r>
              <a:rPr sz="1500" b="1" i="0" u="none" dirty="0" err="1">
                <a:solidFill>
                  <a:srgbClr val="475569"/>
                </a:solidFill>
                <a:latin typeface="Inter"/>
              </a:rPr>
              <a:t>exacto</a:t>
            </a:r>
            <a:r>
              <a:rPr sz="1500" b="1" i="0" u="none" dirty="0">
                <a:solidFill>
                  <a:srgbClr val="475569"/>
                </a:solidFill>
                <a:latin typeface="Inter"/>
              </a:rPr>
              <a:t> del </a:t>
            </a:r>
            <a:r>
              <a:rPr sz="1500" b="1" i="0" u="none" dirty="0" err="1">
                <a:solidFill>
                  <a:srgbClr val="475569"/>
                </a:solidFill>
                <a:latin typeface="Inter"/>
              </a:rPr>
              <a:t>cuadrilátero</a:t>
            </a:r>
            <a:endParaRPr sz="1500" b="1" i="0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29E72B9-06BA-5176-66F0-319740A799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3658" y="740064"/>
            <a:ext cx="5147188" cy="51471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743200"/>
          </a:xfrm>
          <a:prstGeom prst="rect">
            <a:avLst/>
          </a:prstGeom>
          <a:solidFill>
            <a:srgbClr val="6C7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062412"/>
            <a:ext cx="2571750" cy="1476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09950" y="4062412"/>
            <a:ext cx="2571750" cy="1476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0300" y="4062412"/>
            <a:ext cx="2571750" cy="1476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010650" y="4062412"/>
            <a:ext cx="2571750" cy="1476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5529262"/>
            <a:ext cx="2571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062412"/>
            <a:ext cx="2571750" cy="381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062412"/>
            <a:ext cx="9525" cy="1476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71825" y="4062412"/>
            <a:ext cx="9525" cy="1476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09950" y="5529262"/>
            <a:ext cx="2571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09950" y="4062412"/>
            <a:ext cx="257175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9950" y="4062412"/>
            <a:ext cx="9525" cy="1476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72175" y="4062412"/>
            <a:ext cx="9525" cy="1476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300" y="5529262"/>
            <a:ext cx="2571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0300" y="4062412"/>
            <a:ext cx="257175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0300" y="4062412"/>
            <a:ext cx="9525" cy="1476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72525" y="4062412"/>
            <a:ext cx="9525" cy="1476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10650" y="5529262"/>
            <a:ext cx="2571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10650" y="4062412"/>
            <a:ext cx="257175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10650" y="4062412"/>
            <a:ext cx="9525" cy="1476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572875" y="4062412"/>
            <a:ext cx="9525" cy="14763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743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457200"/>
            <a:ext cx="11582400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Playfair Display"/>
              </a:rPr>
              <a:t>Mazos de Juego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4405312"/>
            <a:ext cx="2750343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ayfair Display"/>
              </a:rPr>
              <a:t>Daño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4824412"/>
            <a:ext cx="2190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40 cartas de ataque y multiplicadores.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8075" y="4405312"/>
            <a:ext cx="2750343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ayfair Display"/>
              </a:rPr>
              <a:t>Beneficio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8075" y="4824412"/>
            <a:ext cx="2190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30 cartas de ventajas y escudos.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8425" y="4405312"/>
            <a:ext cx="2750343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ayfair Display"/>
              </a:rPr>
              <a:t>Maleficio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8425" y="4824412"/>
            <a:ext cx="2190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30 cartas de sabotaje rival.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8775" y="4405312"/>
            <a:ext cx="2750343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ayfair Display"/>
              </a:rPr>
              <a:t>Diagnóstico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8775" y="4824412"/>
            <a:ext cx="2190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20 cartas de estados alterados.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762000"/>
            <a:ext cx="11582400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ayfair Display"/>
              </a:rPr>
              <a:t>Secuencia de Turno</a:t>
            </a:r>
          </a:p>
        </p:txBody>
      </p:sp>
      <p:sp>
        <p:nvSpPr>
          <p:cNvPr id="3" name="Rectangle 2"/>
          <p:cNvSpPr/>
          <p:nvPr/>
        </p:nvSpPr>
        <p:spPr>
          <a:xfrm>
            <a:off x="1706760" y="2409825"/>
            <a:ext cx="8778478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257550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257550"/>
            <a:ext cx="76200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3257550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7900" y="3486150"/>
            <a:ext cx="3810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0" y="3486150"/>
            <a:ext cx="1905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3486150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94532" y="4248150"/>
            <a:ext cx="188773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Playfair Display"/>
              </a:rPr>
              <a:t>Lanzar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2728" y="4667250"/>
            <a:ext cx="3131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Suma de dos dados regulares.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642" y="4248150"/>
            <a:ext cx="171271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Playfair Display"/>
              </a:rPr>
              <a:t>Mover Ficha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6984" y="4667250"/>
            <a:ext cx="3298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Activación de casillas y eventos.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0973" y="4248150"/>
            <a:ext cx="2025253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Playfair Display"/>
              </a:rPr>
              <a:t>Batalla Central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0271" y="4667250"/>
            <a:ext cx="3726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Descarga de daño o reinicio al inicio.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1237" y="4633912"/>
            <a:ext cx="9525" cy="7524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77010" y="1471612"/>
            <a:ext cx="3837979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475569"/>
                </a:solidFill>
                <a:latin typeface="Inter"/>
              </a:rPr>
              <a:t>Resistencia del Jefe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9990" y="2071687"/>
            <a:ext cx="3852017" cy="1538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s-CR" sz="12000" b="1" dirty="0">
                <a:solidFill>
                  <a:srgbClr val="991B1B"/>
                </a:solidFill>
                <a:latin typeface="Playfair Display"/>
              </a:rPr>
              <a:t>5</a:t>
            </a:r>
            <a:r>
              <a:rPr sz="12000" b="1" i="0" u="none" dirty="0">
                <a:solidFill>
                  <a:srgbClr val="991B1B"/>
                </a:solidFill>
                <a:latin typeface="Playfair Display"/>
              </a:rPr>
              <a:t>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54078" y="3748087"/>
            <a:ext cx="408384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PUNTOS DE VIDA TOTALES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375" y="4633912"/>
            <a:ext cx="310157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B45309"/>
                </a:solidFill>
                <a:latin typeface="Inter"/>
              </a:rPr>
              <a:t>Al 50% de daño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375" y="4986337"/>
            <a:ext cx="257651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Reducción del perímetro interior.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0362" y="4633912"/>
            <a:ext cx="310157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B45309"/>
                </a:solidFill>
                <a:latin typeface="Inter"/>
              </a:rPr>
              <a:t>Al 25% de daño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0362" y="4986337"/>
            <a:ext cx="310157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Sacrificio forzado de cartas.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38487"/>
            <a:ext cx="609600" cy="609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138487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76712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4176712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37" y="3309937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950" y="3309937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387" y="4348162"/>
            <a:ext cx="2000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950" y="4348162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762000"/>
            <a:ext cx="11582400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ayfair Display"/>
              </a:rPr>
              <a:t>Estados de Diagnóstico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7800" y="3138487"/>
            <a:ext cx="3287910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ayfair Display"/>
              </a:rPr>
              <a:t>Veneno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7800" y="3567112"/>
            <a:ext cx="31313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Pérdida de 1 vida por turno.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4700" y="3138487"/>
            <a:ext cx="3850481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ayfair Display"/>
              </a:rPr>
              <a:t>Embrujo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4700" y="3567112"/>
            <a:ext cx="36671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Retroceso forzado en el tablero.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7800" y="4176712"/>
            <a:ext cx="3825478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ayfair Display"/>
              </a:rPr>
              <a:t>Sangrado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800" y="4605337"/>
            <a:ext cx="3643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Movimiento reducido a la mitad.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4700" y="4176712"/>
            <a:ext cx="3675459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ayfair Display"/>
              </a:rPr>
              <a:t>Extravío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4700" y="4605337"/>
            <a:ext cx="3500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Descarte obligatorio por turno.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696342"/>
            <a:ext cx="72009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Playfair Display"/>
              </a:rPr>
              <a:t>Teoría Matemática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656433"/>
            <a:ext cx="55816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991B1B"/>
                </a:solidFill>
                <a:latin typeface="Inter"/>
              </a:rPr>
              <a:t>Recursividad </a:t>
            </a:r>
            <a:r>
              <a:rPr sz="1500" b="1" i="0" u="none">
                <a:solidFill>
                  <a:srgbClr val="475569"/>
                </a:solidFill>
                <a:latin typeface="Inter"/>
              </a:rPr>
              <a:t>Alucinación de turnos anidados.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618458"/>
            <a:ext cx="55816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B45309"/>
                </a:solidFill>
                <a:latin typeface="Inter"/>
              </a:rPr>
              <a:t>Combinatoria </a:t>
            </a:r>
            <a:r>
              <a:rPr sz="1500" b="1" i="0" u="none">
                <a:solidFill>
                  <a:srgbClr val="475569"/>
                </a:solidFill>
                <a:latin typeface="Inter"/>
              </a:rPr>
              <a:t>Importancia del orden en multiplicadores.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580483"/>
            <a:ext cx="55816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Inclusión-Exclusión </a:t>
            </a:r>
            <a:r>
              <a:rPr sz="1500" b="1" i="0" u="none">
                <a:solidFill>
                  <a:srgbClr val="475569"/>
                </a:solidFill>
                <a:latin typeface="Inter"/>
              </a:rPr>
              <a:t>Traslape de efectos negativos simultáneos.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362200"/>
            <a:ext cx="6096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45556" y="3276600"/>
            <a:ext cx="7100887" cy="714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Playfair Display"/>
              </a:rPr>
              <a:t>Fin de la Presentación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5733" y="4219575"/>
            <a:ext cx="314054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94A3B8"/>
                </a:solidFill>
                <a:latin typeface="Inter"/>
              </a:rPr>
              <a:t>¿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Alguna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pregunta</a:t>
            </a:r>
            <a:r>
              <a:rPr lang="es-CR" sz="1800" b="0" i="0" u="none" dirty="0">
                <a:solidFill>
                  <a:srgbClr val="94A3B8"/>
                </a:solidFill>
                <a:latin typeface="Inter"/>
              </a:rPr>
              <a:t> sobre el juego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198</Words>
  <Application>Microsoft Office PowerPoint</Application>
  <PresentationFormat>Panorámica</PresentationFormat>
  <Paragraphs>45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Inter</vt:lpstr>
      <vt:lpstr>Arial</vt:lpstr>
      <vt:lpstr>Playfair Display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Josué Porta</cp:lastModifiedBy>
  <cp:revision>3</cp:revision>
  <dcterms:created xsi:type="dcterms:W3CDTF">2013-01-27T09:14:16Z</dcterms:created>
  <dcterms:modified xsi:type="dcterms:W3CDTF">2026-10-09T03:01:38Z</dcterms:modified>
  <cp:category/>
</cp:coreProperties>
</file>